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795E"/>
                </a:solidFill>
                <a:latin typeface="Calibri"/>
              </a:rPr>
              <a:t>R TOOLKIT · WT1 PROXIMITY-LABELING INTERACTOME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0" i="0">
                <a:solidFill>
                  <a:srgbClr val="14140F"/>
                </a:solidFill>
                <a:latin typeface="Georgia"/>
              </a:rPr>
              <a:t>A Consensus, Dual-Branch Pipeline for Calling</a:t>
            </a:r>
          </a:p>
          <a:p>
            <a:pPr algn="l">
              <a:lnSpc>
                <a:spcPct val="108000"/>
              </a:lnSpc>
            </a:pPr>
            <a:r>
              <a:rPr sz="3400" b="0" i="0">
                <a:solidFill>
                  <a:srgbClr val="14140F"/>
                </a:solidFill>
                <a:latin typeface="Georgia"/>
              </a:rPr>
              <a:t>Proximity-Labeling Interactors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55534C"/>
                </a:solidFill>
                <a:latin typeface="Georgia"/>
              </a:rPr>
              <a:t>Seven differential-enrichment methods and an independent spectral-count model,</a:t>
            </a:r>
          </a:p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55534C"/>
                </a:solidFill>
                <a:latin typeface="Georgia"/>
              </a:rPr>
              <a:t>fused into one confidence-scored interactor list.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4526280"/>
            <a:ext cx="10545775" cy="0"/>
          </a:xfrm>
          <a:prstGeom prst="line">
            <a:avLst/>
          </a:prstGeom>
          <a:ln w="15240">
            <a:solidFill>
              <a:srgbClr val="D9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4709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534C"/>
                </a:solidFill>
                <a:latin typeface="Calibri"/>
              </a:rPr>
              <a:t>Xin Wang      xin.wang@nationwidechildrens.org      Nationwide Children's Hospital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PROXLABTOOLKIT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METHODS SUMMARY  ·  AUG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566928"/>
            <a:ext cx="11185855" cy="0"/>
          </a:xfrm>
          <a:prstGeom prst="line">
            <a:avLst/>
          </a:prstGeom>
          <a:ln w="12700">
            <a:solidFill>
              <a:srgbClr val="D9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5827A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0F"/>
                </a:solidFill>
                <a:latin typeface="Calibri"/>
              </a:rPr>
              <a:t>OVERVIEW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07592"/>
            <a:ext cx="11185855" cy="0"/>
          </a:xfrm>
          <a:prstGeom prst="line">
            <a:avLst/>
          </a:prstGeom>
          <a:ln w="19050">
            <a:solidFill>
              <a:srgbClr val="141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41732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534C"/>
                </a:solidFill>
                <a:latin typeface="Calibri"/>
              </a:rPr>
              <a:t>The WT1 project previously re-implemented the same differential-enrichment analysis from scratch for every bait-vs-control comparison — ten near-identical scripts differing only in hard-coded sample names. ProxLabToolkit replaces them with one parameterized pipeline: a single comparison is scored by seven independent statistical methods on MaxLFQ intensity, cross-checked against an independent model of raw spectral counts, and reduced to one ranked, evidence-tagged list of interactors.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880360"/>
          <a:ext cx="1024128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6126480"/>
              </a:tblGrid>
              <a:tr h="1828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85827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4140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85827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4140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5534C"/>
                          </a:solidFill>
                          <a:latin typeface="Calibri"/>
                        </a:rPr>
                        <a:t>Comparison unit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0F"/>
                          </a:solidFill>
                          <a:latin typeface="Consolas"/>
                        </a:rPr>
                        <a:t>1 bait vs. 1 matched control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5534C"/>
                          </a:solidFill>
                          <a:latin typeface="Calibri"/>
                        </a:rPr>
                        <a:t>DEA methods, intensity branch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0F"/>
                          </a:solidFill>
                          <a:latin typeface="Consolas"/>
                        </a:rPr>
                        <a:t>7 — Limma, DEqMS, Wilcoxon, ROTS, DEP, proDA, MSstats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5534C"/>
                          </a:solidFill>
                          <a:latin typeface="Calibri"/>
                        </a:rPr>
                        <a:t>Evidence branches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0F"/>
                          </a:solidFill>
                          <a:latin typeface="Consolas"/>
                        </a:rPr>
                        <a:t>2 — MaxLFQ intensity; raw spectral count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5534C"/>
                          </a:solidFill>
                          <a:latin typeface="Calibri"/>
                        </a:rPr>
                        <a:t>Legacy scripts consolidated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0F"/>
                          </a:solidFill>
                          <a:latin typeface="Consolas"/>
                        </a:rPr>
                        <a:t>10 → 1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5534C"/>
                          </a:solidFill>
                          <a:latin typeface="Calibri"/>
                        </a:rPr>
                        <a:t>Validated against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4140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0F"/>
                          </a:solidFill>
                          <a:latin typeface="Consolas"/>
                        </a:rPr>
                        <a:t>WT1(−)KTS proximity-labeling dataset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4140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PROXLABTOOLKIT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METHODS SUMMARY  ·  AUG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566928"/>
            <a:ext cx="11185855" cy="0"/>
          </a:xfrm>
          <a:prstGeom prst="line">
            <a:avLst/>
          </a:prstGeom>
          <a:ln w="12700">
            <a:solidFill>
              <a:srgbClr val="D9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5827A"/>
                </a:solidFill>
                <a:latin typeface="Georg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0F"/>
                </a:solidFill>
                <a:latin typeface="Calibri"/>
              </a:rPr>
              <a:t>PIPELINE ARCHITECTURE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07592"/>
            <a:ext cx="11185855" cy="0"/>
          </a:xfrm>
          <a:prstGeom prst="line">
            <a:avLst/>
          </a:prstGeom>
          <a:ln w="19050">
            <a:solidFill>
              <a:srgbClr val="141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41732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534C"/>
                </a:solidFill>
                <a:latin typeface="Calibri"/>
              </a:rPr>
              <a:t>Every comparison passes through load / normalize / impute once, then the two branches run in parallel on the same six samples before fusing into a single call.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1554480" cy="777240"/>
          </a:xfrm>
          <a:prstGeom prst="rect">
            <a:avLst/>
          </a:prstGeom>
          <a:noFill/>
          <a:ln w="13970">
            <a:solidFill>
              <a:srgbClr val="14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0720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140F"/>
                </a:solidFill>
                <a:latin typeface="Calibri"/>
              </a:rPr>
              <a:t>Load &amp; 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85827A"/>
                </a:solidFill>
                <a:latin typeface="Consolas"/>
              </a:rPr>
              <a:t>combined_protein.csv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03120" y="3040380"/>
            <a:ext cx="411480" cy="0"/>
          </a:xfrm>
          <a:prstGeom prst="line">
            <a:avLst/>
          </a:prstGeom>
          <a:ln w="16510">
            <a:solidFill>
              <a:srgbClr val="14140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14600" y="2651760"/>
            <a:ext cx="1554480" cy="777240"/>
          </a:xfrm>
          <a:prstGeom prst="rect">
            <a:avLst/>
          </a:prstGeom>
          <a:noFill/>
          <a:ln w="13970">
            <a:solidFill>
              <a:srgbClr val="14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80720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140F"/>
                </a:solidFill>
                <a:latin typeface="Calibri"/>
              </a:rPr>
              <a:t>Normalize &amp; impute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063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5827A"/>
                </a:solidFill>
                <a:latin typeface="Consolas"/>
              </a:rPr>
              <a:t>knn (MAR) / MinProb (MNAR)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69080" y="3040380"/>
            <a:ext cx="411479" cy="0"/>
          </a:xfrm>
          <a:prstGeom prst="line">
            <a:avLst/>
          </a:prstGeom>
          <a:ln w="16510">
            <a:solidFill>
              <a:srgbClr val="141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480559" y="2286000"/>
            <a:ext cx="0" cy="754380"/>
          </a:xfrm>
          <a:prstGeom prst="line">
            <a:avLst/>
          </a:prstGeom>
          <a:ln w="16510">
            <a:solidFill>
              <a:srgbClr val="141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80559" y="3040380"/>
            <a:ext cx="0" cy="1485900"/>
          </a:xfrm>
          <a:prstGeom prst="line">
            <a:avLst/>
          </a:prstGeom>
          <a:ln w="16510">
            <a:solidFill>
              <a:srgbClr val="141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80559" y="2286000"/>
            <a:ext cx="411481" cy="0"/>
          </a:xfrm>
          <a:prstGeom prst="line">
            <a:avLst/>
          </a:prstGeom>
          <a:ln w="19050">
            <a:solidFill>
              <a:srgbClr val="00795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80559" y="4526280"/>
            <a:ext cx="411481" cy="0"/>
          </a:xfrm>
          <a:prstGeom prst="line">
            <a:avLst/>
          </a:prstGeom>
          <a:ln w="19050">
            <a:solidFill>
              <a:srgbClr val="A852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892040" y="1920240"/>
            <a:ext cx="2880360" cy="1005840"/>
          </a:xfrm>
          <a:prstGeom prst="rect">
            <a:avLst/>
          </a:prstGeom>
          <a:noFill/>
          <a:ln w="13970">
            <a:solidFill>
              <a:srgbClr val="0079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79" y="2057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0795E"/>
                </a:solidFill>
                <a:latin typeface="Calibri"/>
              </a:rPr>
              <a:t>INTENSITY BRANCH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79" y="2331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4140F"/>
                </a:solidFill>
                <a:latin typeface="Consolas"/>
              </a:rPr>
              <a:t>Limma · DEqMS · Wilcoxon · ROTS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79" y="25328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4140F"/>
                </a:solidFill>
                <a:latin typeface="Consolas"/>
              </a:rPr>
              <a:t>DEP · proDA · MSstats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79" y="27706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5827A"/>
                </a:solidFill>
                <a:latin typeface="Calibri"/>
              </a:rPr>
              <a:t>7 methods, shared matrix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4069080"/>
            <a:ext cx="2880360" cy="1005840"/>
          </a:xfrm>
          <a:prstGeom prst="rect">
            <a:avLst/>
          </a:prstGeom>
          <a:noFill/>
          <a:ln w="13970">
            <a:solidFill>
              <a:srgbClr val="A85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79" y="42062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A85200"/>
                </a:solidFill>
                <a:latin typeface="Calibri"/>
              </a:rPr>
              <a:t>COUNT BRANCH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79" y="44805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4140F"/>
                </a:solidFill>
                <a:latin typeface="Consolas"/>
              </a:rPr>
              <a:t>SAINT-style EM mixture,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79" y="46817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4140F"/>
                </a:solidFill>
                <a:latin typeface="Consolas"/>
              </a:rPr>
              <a:t>raw spectral counts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79" y="49194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5827A"/>
                </a:solidFill>
                <a:latin typeface="Calibri"/>
              </a:rPr>
              <a:t>independent of MaxLFQ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72400" y="2423160"/>
            <a:ext cx="411479" cy="0"/>
          </a:xfrm>
          <a:prstGeom prst="line">
            <a:avLst/>
          </a:prstGeom>
          <a:ln w="19050">
            <a:solidFill>
              <a:srgbClr val="00795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72400" y="4572000"/>
            <a:ext cx="411479" cy="0"/>
          </a:xfrm>
          <a:prstGeom prst="line">
            <a:avLst/>
          </a:prstGeom>
          <a:ln w="19050">
            <a:solidFill>
              <a:srgbClr val="A852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183879" y="2423160"/>
            <a:ext cx="0" cy="617220"/>
          </a:xfrm>
          <a:prstGeom prst="line">
            <a:avLst/>
          </a:prstGeom>
          <a:ln w="19050">
            <a:solidFill>
              <a:srgbClr val="00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183879" y="3040380"/>
            <a:ext cx="0" cy="1531620"/>
          </a:xfrm>
          <a:prstGeom prst="line">
            <a:avLst/>
          </a:prstGeom>
          <a:ln w="19050">
            <a:solidFill>
              <a:srgbClr val="A85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183879" y="3040380"/>
            <a:ext cx="411481" cy="0"/>
          </a:xfrm>
          <a:prstGeom prst="line">
            <a:avLst/>
          </a:prstGeom>
          <a:ln w="16510">
            <a:solidFill>
              <a:srgbClr val="14140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595360" y="2651760"/>
            <a:ext cx="2880360" cy="822960"/>
          </a:xfrm>
          <a:prstGeom prst="rect">
            <a:avLst/>
          </a:prstGeom>
          <a:noFill/>
          <a:ln w="13970">
            <a:solidFill>
              <a:srgbClr val="1D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27706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D5C8A"/>
                </a:solidFill>
                <a:latin typeface="Calibri"/>
              </a:rPr>
              <a:t>FUSION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044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4140F"/>
                </a:solidFill>
                <a:latin typeface="Consolas"/>
              </a:rPr>
              <a:t>corrected-Fisher p, vote count,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2461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4140F"/>
                </a:solidFill>
                <a:latin typeface="Consolas"/>
              </a:rPr>
              <a:t>naive-Bayes posterior fusion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035540" y="3474720"/>
            <a:ext cx="0" cy="228600"/>
          </a:xfrm>
          <a:prstGeom prst="line">
            <a:avLst/>
          </a:prstGeom>
          <a:ln w="16510">
            <a:solidFill>
              <a:srgbClr val="141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595360" y="3703320"/>
            <a:ext cx="2880360" cy="640080"/>
          </a:xfrm>
          <a:prstGeom prst="rect">
            <a:avLst/>
          </a:prstGeom>
          <a:noFill/>
          <a:ln w="13970">
            <a:solidFill>
              <a:srgbClr val="14140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82219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140F"/>
                </a:solidFill>
                <a:latin typeface="Calibri"/>
              </a:rPr>
              <a:t>Final DEP 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069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5827A"/>
                </a:solidFill>
                <a:latin typeface="Consolas"/>
              </a:rPr>
              <a:t>High / Standard / Count-only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9893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5534C"/>
                </a:solidFill>
                <a:latin typeface="Calibri"/>
              </a:rPr>
              <a:t>Figure 1. Pipeline architecture. The count branch and fusion step run only under run_pl_interactome(); run_pl_dea() alone returns the intensity-only consensus.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PROXLABTOOLKIT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METHODS SUMMARY  ·  AUG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566928"/>
            <a:ext cx="11185855" cy="0"/>
          </a:xfrm>
          <a:prstGeom prst="line">
            <a:avLst/>
          </a:prstGeom>
          <a:ln w="12700">
            <a:solidFill>
              <a:srgbClr val="D9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5827A"/>
                </a:solidFill>
                <a:latin typeface="Georg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0F"/>
                </a:solidFill>
                <a:latin typeface="Calibri"/>
              </a:rPr>
              <a:t>METHODOLOGICAL ADVANCES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07592"/>
            <a:ext cx="11185855" cy="0"/>
          </a:xfrm>
          <a:prstGeom prst="line">
            <a:avLst/>
          </a:prstGeom>
          <a:ln w="19050">
            <a:solidFill>
              <a:srgbClr val="141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37160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5534C"/>
                </a:solidFill>
                <a:latin typeface="Calibri"/>
              </a:rPr>
              <a:t>Each item traces to a specific, verified problem in the prior per-comparison scripts — not a hypothetical improvement.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965960"/>
          <a:ext cx="11155680" cy="4005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2834640"/>
                <a:gridCol w="4434840"/>
                <a:gridCol w="3383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5827A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4140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5827A"/>
                          </a:solidFill>
                          <a:latin typeface="Calibri"/>
                        </a:rPr>
                        <a:t>Advance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4140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5827A"/>
                          </a:solidFill>
                          <a:latin typeface="Calibri"/>
                        </a:rPr>
                        <a:t>Problem addressed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4140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5827A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4140F"/>
                      </a:solidFill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85827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795E"/>
                          </a:solidFill>
                          <a:latin typeface="Calibri"/>
                        </a:rPr>
                        <a:t>Correlation-corrected consensus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5534C"/>
                          </a:solidFill>
                          <a:latin typeface="Calibri"/>
                        </a:rPr>
                        <a:t>Fisher/Tippett/Stouffer assume independent tests; 6 of 7 methods share one imputed matrix.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0F"/>
                          </a:solidFill>
                          <a:latin typeface="Consolas"/>
                        </a:rPr>
                        <a:t>Plain Fisher: 879 DEPs vs. 226 corrected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85827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795E"/>
                          </a:solidFill>
                          <a:latin typeface="Calibri"/>
                        </a:rPr>
                        <a:t>MAR/MNAR-matched imputation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5534C"/>
                          </a:solidFill>
                          <a:latin typeface="Calibri"/>
                        </a:rPr>
                        <a:t>DEP's own impute(fun="mixed") mis-orients the matrix for small MNAR subsets.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0F"/>
                          </a:solidFill>
                          <a:latin typeface="Consolas"/>
                        </a:rPr>
                        <a:t>Known-MNAR proteins impute near the floor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85827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795E"/>
                          </a:solidFill>
                          <a:latin typeface="Calibri"/>
                        </a:rPr>
                        <a:t>Three-criterion DEP calling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5534C"/>
                          </a:solidFill>
                          <a:latin typeface="Calibri"/>
                        </a:rPr>
                        <a:t>No single p-value or effect-size cutoff is robust alone at small replicate numbers.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0F"/>
                          </a:solidFill>
                          <a:latin typeface="Consolas"/>
                        </a:rPr>
                        <a:t>Requires p, |log₂FC|, and ≥3/7 methods jointly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85827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A85200"/>
                          </a:solidFill>
                          <a:latin typeface="Calibri"/>
                        </a:rPr>
                        <a:t>Independent count branch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5534C"/>
                          </a:solidFill>
                          <a:latin typeface="Calibri"/>
                        </a:rPr>
                        <a:t>MaxLFQ is unreliable for proteins identified only from shared peptides.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0F"/>
                          </a:solidFill>
                          <a:latin typeface="Consolas"/>
                        </a:rPr>
                        <a:t>SAINT-style EM mixture, no MaxLFQ dependency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85827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D5C8A"/>
                          </a:solidFill>
                          <a:latin typeface="Calibri"/>
                        </a:rPr>
                        <a:t>Interpretable fusion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5534C"/>
                          </a:solidFill>
                          <a:latin typeface="Calibri"/>
                        </a:rPr>
                        <a:t>A single fused score can't be sanity-checked from a legend alone.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0F"/>
                          </a:solidFill>
                          <a:latin typeface="Consolas"/>
                        </a:rPr>
                        <a:t>Tagged Both / Count_only / Intensity_only / Neither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85827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4140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D5C8A"/>
                          </a:solidFill>
                          <a:latin typeface="Calibri"/>
                        </a:rPr>
                        <a:t>comparison_spec() parameterization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4140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5534C"/>
                          </a:solidFill>
                          <a:latin typeface="Calibri"/>
                        </a:rPr>
                        <a:t>10 × ~1,800-line scripts, one hard-coded per bait.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4140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0F"/>
                          </a:solidFill>
                          <a:latin typeface="Consolas"/>
                        </a:rPr>
                        <a:t>One script now serves every WT1 comparison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4140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PROXLABTOOLKIT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METHODS SUMMARY  ·  AUG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566928"/>
            <a:ext cx="11185855" cy="0"/>
          </a:xfrm>
          <a:prstGeom prst="line">
            <a:avLst/>
          </a:prstGeom>
          <a:ln w="12700">
            <a:solidFill>
              <a:srgbClr val="D9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5827A"/>
                </a:solidFill>
                <a:latin typeface="Georgi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0F"/>
                </a:solidFill>
                <a:latin typeface="Calibri"/>
              </a:rPr>
              <a:t>PRELIMINARY RESULTS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07592"/>
            <a:ext cx="11185855" cy="0"/>
          </a:xfrm>
          <a:prstGeom prst="line">
            <a:avLst/>
          </a:prstGeom>
          <a:ln w="19050">
            <a:solidFill>
              <a:srgbClr val="141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4173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5534C"/>
                </a:solidFill>
                <a:latin typeface="Calibri"/>
              </a:rPr>
              <a:t>Both branches were run end to end on the WT1(−)KTS proximity-labeling dataset (induced bait vs. induced mock control, 3 replicates each).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468880"/>
          <a:ext cx="7315200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/>
                <a:gridCol w="2286000"/>
              </a:tblGrid>
              <a:tr h="1828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85827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4140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85827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4140F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5534C"/>
                          </a:solidFill>
                          <a:latin typeface="Calibri"/>
                        </a:rPr>
                        <a:t>Proteins retained after ≤3-of-6 missing-value filter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0F"/>
                          </a:solidFill>
                          <a:latin typeface="Consolas"/>
                        </a:rPr>
                        <a:t>2,119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5534C"/>
                          </a:solidFill>
                          <a:latin typeface="Calibri"/>
                        </a:rPr>
                        <a:t>Classified MNAR (absent in a whole condition)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0F"/>
                          </a:solidFill>
                          <a:latin typeface="Consolas"/>
                        </a:rPr>
                        <a:t>~120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5534C"/>
                          </a:solidFill>
                          <a:latin typeface="Calibri"/>
                        </a:rPr>
                        <a:t>DEA methods completing without error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4140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0F"/>
                          </a:solidFill>
                          <a:latin typeface="Consolas"/>
                        </a:rPr>
                        <a:t>7 / 7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4140F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480560"/>
          <a:ext cx="7315200" cy="162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/>
                <a:gridCol w="22860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85827A"/>
                          </a:solidFill>
                          <a:latin typeface="Calibri"/>
                        </a:rPr>
                        <a:t>Combination strategy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4140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85827A"/>
                          </a:solidFill>
                          <a:latin typeface="Calibri"/>
                        </a:rPr>
                        <a:t>DEPs called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4140F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0F"/>
                          </a:solidFill>
                          <a:latin typeface="Calibri"/>
                        </a:rPr>
                        <a:t>Plain Fisher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140F"/>
                          </a:solidFill>
                          <a:latin typeface="Consolas"/>
                        </a:rPr>
                        <a:t>879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0F"/>
                          </a:solidFill>
                          <a:latin typeface="Calibri"/>
                        </a:rPr>
                        <a:t>Correlation-corrected Fisher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140F"/>
                          </a:solidFill>
                          <a:latin typeface="Consolas"/>
                        </a:rPr>
                        <a:t>226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0F"/>
                          </a:solidFill>
                          <a:latin typeface="Calibri"/>
                        </a:rPr>
                        <a:t>Vote, ≥3 of 7 methods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4140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140F"/>
                          </a:solidFill>
                          <a:latin typeface="Consolas"/>
                        </a:rPr>
                        <a:t>490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4140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6263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5827A"/>
                </a:solidFill>
                <a:latin typeface="Calibri"/>
              </a:rPr>
              <a:t>Table. n = 2,119 proteins post-filter, NegKTSwt(−)KTS vs. mock, induced. Uncorrected Fisher combination calls roughly 4× as many DEPs as the corrected version.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PROXLABTOOLKIT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METHODS SUMMARY  ·  AUG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566928"/>
            <a:ext cx="11185855" cy="0"/>
          </a:xfrm>
          <a:prstGeom prst="line">
            <a:avLst/>
          </a:prstGeom>
          <a:ln w="12700">
            <a:solidFill>
              <a:srgbClr val="D9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5827A"/>
                </a:solidFill>
                <a:latin typeface="Georgi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0F"/>
                </a:solidFill>
                <a:latin typeface="Calibri"/>
              </a:rPr>
              <a:t>PRELIMINARY RESULTS  —  FIGURE 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07592"/>
            <a:ext cx="11185855" cy="0"/>
          </a:xfrm>
          <a:prstGeom prst="line">
            <a:avLst/>
          </a:prstGeom>
          <a:ln w="19050">
            <a:solidFill>
              <a:srgbClr val="141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11480" y="1498209"/>
            <a:ext cx="11338559" cy="404446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e2_Consensus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9649"/>
            <a:ext cx="11155680" cy="38615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8932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5534C"/>
                </a:solidFill>
                <a:latin typeface="Calibri"/>
              </a:rPr>
              <a:t>Figure 2. Consensus validation. (A) Pairwise correlation among the seven methods' −2log(p) statistics — Limma/ROTS/DEqMS share r = 0.95–1.00. (B) DEPs called under three combination strategies. (C) QQ plot: plain Fisher sits well above the null diagonal; the corrected version tracks it closely.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PROXLABTOOLKIT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METHODS SUMMARY  ·  AUG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566928"/>
            <a:ext cx="11185855" cy="0"/>
          </a:xfrm>
          <a:prstGeom prst="line">
            <a:avLst/>
          </a:prstGeom>
          <a:ln w="12700">
            <a:solidFill>
              <a:srgbClr val="D9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5827A"/>
                </a:solidFill>
                <a:latin typeface="Georgi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0F"/>
                </a:solidFill>
                <a:latin typeface="Calibri"/>
              </a:rPr>
              <a:t>PRELIMINARY RESULTS  —  FIGURE 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07592"/>
            <a:ext cx="11185855" cy="0"/>
          </a:xfrm>
          <a:prstGeom prst="line">
            <a:avLst/>
          </a:prstGeom>
          <a:ln w="19050">
            <a:solidFill>
              <a:srgbClr val="141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11480" y="1469346"/>
            <a:ext cx="11338559" cy="364498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e3_DualBranch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60786"/>
            <a:ext cx="11155680" cy="34621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4864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534C"/>
                </a:solidFill>
                <a:latin typeface="Calibri"/>
              </a:rPr>
              <a:t>Figure 3. Dual-branch fusion. (A–B) Each branch is independently bimodal — a clean background / true-interactor split. (C) Each point is one protein, colored by which branch(es) called it; WT1, the bait itself, lands at the top-right corner (both posteriors ≈ 1) — the pipeline recovers its own bait as the top hit without being told 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5827A"/>
                </a:solidFill>
                <a:latin typeface="Calibri"/>
              </a:rPr>
              <a:t>Imputation spot-check: ABRAXAS2 ≈ 22, AGO3 ≈ 22 — known-MNAR proteins impute near the population floor.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PROXLABTOOLKIT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METHODS SUMMARY  ·  AUG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566928"/>
            <a:ext cx="11185855" cy="0"/>
          </a:xfrm>
          <a:prstGeom prst="line">
            <a:avLst/>
          </a:prstGeom>
          <a:ln w="12700">
            <a:solidFill>
              <a:srgbClr val="D9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5827A"/>
                </a:solidFill>
                <a:latin typeface="Georg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0F"/>
                </a:solidFill>
                <a:latin typeface="Calibri"/>
              </a:rPr>
              <a:t>STATUS &amp; NEXT STEPS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07592"/>
            <a:ext cx="11185855" cy="0"/>
          </a:xfrm>
          <a:prstGeom prst="line">
            <a:avLst/>
          </a:prstGeom>
          <a:ln w="19050">
            <a:solidFill>
              <a:srgbClr val="141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534C"/>
                </a:solidFill>
                <a:latin typeface="Calibri"/>
              </a:rPr>
              <a:t>The toolkit is plain sourced R (no package install) and reproduces the already-validated manual R467W-vs-Mock run end to end.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148840"/>
          <a:ext cx="11155680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81381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85827A"/>
                          </a:solidFill>
                          <a:latin typeface="Calibri"/>
                        </a:rPr>
                        <a:t>Entry point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4140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85827A"/>
                          </a:solidFill>
                          <a:latin typeface="Calibri"/>
                        </a:rPr>
                        <a:t>Produces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4140F"/>
                      </a:solidFill>
                    </a:lnB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0F"/>
                          </a:solidFill>
                          <a:latin typeface="Consolas"/>
                        </a:rPr>
                        <a:t>run_pl_dea()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34C"/>
                          </a:solidFill>
                          <a:latin typeface="Calibri"/>
                        </a:rPr>
                        <a:t>Intensity branch only — 7-method ensemble, consensus scoring, *_DEPs.csv.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7D0"/>
                      </a:solidFill>
                    </a:lnB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0F"/>
                          </a:solidFill>
                          <a:latin typeface="Consolas"/>
                        </a:rPr>
                        <a:t>run_pl_interactome()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4140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5534C"/>
                          </a:solidFill>
                          <a:latin typeface="Calibri"/>
                        </a:rPr>
                        <a:t>Adds the count branch and fusion — *_FusedInteractomeScore.csv and a confidence-tiered *_DEPs.csv.</a:t>
                      </a:r>
                    </a:p>
                  </a:txBody>
                  <a:tcPr marL="54864" marR="54864" marT="27432" marB="27432" anchor="ctr">
                    <a:solidFill>
                      <a:srgbClr val="FBFBF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4140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297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0F"/>
                </a:solidFill>
                <a:latin typeface="Calibri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6344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5534C"/>
                </a:solidFill>
                <a:latin typeface="Calibri"/>
              </a:rPr>
              <a:t>•  Not yet ported: the volcano / heatmap / GO-enrichment figure generation from the original per-comparison Rmds.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5534C"/>
                </a:solidFill>
                <a:latin typeface="Calibri"/>
              </a:rPr>
              <a:t>•  Contaminant filtering ships with a small placeholder list (keratins, trypsin, albumin); a real CRAPome export should replace it before production calls.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PROXLABTOOLKIT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METHODS SUMMARY  ·  AUG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566928"/>
            <a:ext cx="11185855" cy="0"/>
          </a:xfrm>
          <a:prstGeom prst="line">
            <a:avLst/>
          </a:prstGeom>
          <a:ln w="12700">
            <a:solidFill>
              <a:srgbClr val="D9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5827A"/>
                </a:solidFill>
                <a:latin typeface="Georgia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0F"/>
                </a:solidFill>
                <a:latin typeface="Calibri"/>
              </a:rPr>
              <a:t>APPENDIX — CONSENSUS STATISTICS, IN FORMULA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07592"/>
            <a:ext cx="11185855" cy="0"/>
          </a:xfrm>
          <a:prstGeom prst="line">
            <a:avLst/>
          </a:prstGeom>
          <a:ln w="19050">
            <a:solidFill>
              <a:srgbClr val="141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95E"/>
                </a:solidFill>
                <a:latin typeface="Calibri"/>
              </a:rPr>
              <a:t>Plain Fisher combination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0F"/>
                </a:solidFill>
                <a:latin typeface="Consolas"/>
              </a:rPr>
              <a:t>χ² = −2 Σ ln(pᵢ),   df = 2k   (k = number of methods testing this protein)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534C"/>
                </a:solidFill>
                <a:latin typeface="Calibri"/>
              </a:rPr>
              <a:t>Assumes the k p-values are independent. Six of seven methods here share one imputed matrix, so they are positively correlated — the null distribution above is too optimistic, and p-values come out too small.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95E"/>
                </a:solidFill>
                <a:latin typeface="Calibri"/>
              </a:rPr>
              <a:t>Correlation-corrected Fisher (Kost &amp; McDermott, 2002)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4140F"/>
                </a:solidFill>
                <a:latin typeface="Consolas"/>
              </a:rPr>
              <a:t>r̄ = mean pairwise correlation of each method's −2ln(p) across all proteins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4140F"/>
                </a:solidFill>
                <a:latin typeface="Consolas"/>
              </a:rPr>
              <a:t>c = Var(χ²) / (2 E[χ²]),   f = 2 E[χ²]² / Var(χ²),   where Var(χ²) = 4k + 2·C(k,2)·cov(r̄)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4140F"/>
                </a:solidFill>
                <a:latin typeface="Consolas"/>
              </a:rPr>
              <a:t>corrected p = P( χ²_f  &gt;  χ²_observed / c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77639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534C"/>
                </a:solidFill>
                <a:latin typeface="Calibri"/>
              </a:rPr>
              <a:t>The observed statistic is rescaled by its own inflated variance before its p-value is read off a chi-square with fewer effective degrees of freedom — shrinking it back toward what k truly-independent tests would have produced.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177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95E"/>
                </a:solidFill>
                <a:latin typeface="Calibri"/>
              </a:rPr>
              <a:t>Vote counting (independence-free check)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83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0F"/>
                </a:solidFill>
                <a:latin typeface="Consolas"/>
              </a:rPr>
              <a:t>hitᵢ = 1[ pᵢ ≤ 0.05  AND  |log₂FCᵢ| &gt; 0.25 ],     n_methods_hit = Σᵢ hitᵢ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9496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5534C"/>
                </a:solidFill>
                <a:latin typeface="Calibri"/>
              </a:rPr>
              <a:t>Final call requires all three, jointly: corrected p ≤ 0.05  AND  |max log₂FC| &gt; 0.25  AND  n_methods_hit ≥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PROXLABTOOLKIT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56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5827A"/>
                </a:solidFill>
                <a:latin typeface="Calibri"/>
              </a:rPr>
              <a:t>METHODS SUMMARY  ·  AUG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566928"/>
            <a:ext cx="11185855" cy="0"/>
          </a:xfrm>
          <a:prstGeom prst="line">
            <a:avLst/>
          </a:prstGeom>
          <a:ln w="12700">
            <a:solidFill>
              <a:srgbClr val="D9D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5827A"/>
                </a:solidFill>
                <a:latin typeface="Georgia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0F"/>
                </a:solidFill>
                <a:latin typeface="Calibri"/>
              </a:rPr>
              <a:t>APPENDIX — MISSING DATA &amp; ORTHOGONAL EVIDENCE, IN FORMULA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07592"/>
            <a:ext cx="11185855" cy="0"/>
          </a:xfrm>
          <a:prstGeom prst="line">
            <a:avLst/>
          </a:prstGeom>
          <a:ln w="19050">
            <a:solidFill>
              <a:srgbClr val="141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95E"/>
                </a:solidFill>
                <a:latin typeface="Calibri"/>
              </a:rPr>
              <a:t>Missing data — MAR vs. MNAR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0F"/>
                </a:solidFill>
                <a:latin typeface="Consolas"/>
              </a:rPr>
              <a:t>protein is MNAR  ⇔  ∃ condition group g :  all replicates in g are 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34C"/>
                </a:solidFill>
                <a:latin typeface="Calibri"/>
              </a:rPr>
              <a:t>MAR values (scattered dropout) → k-nearest-neighbors imputation.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34C"/>
                </a:solidFill>
                <a:latin typeface="Calibri"/>
              </a:rPr>
              <a:t>MNAR values (whole group absent) → imputeLCMD MinProb: draws from the left tail of the protein's own intensity distribution (quantile q = 0.01), on the full matrix at correct orientation.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A85200"/>
                </a:solidFill>
                <a:latin typeface="Calibri"/>
              </a:rPr>
              <a:t>Count branch — SAINT-style two-component mixture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3756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4140F"/>
                </a:solidFill>
                <a:latin typeface="Consolas"/>
              </a:rPr>
              <a:t>bait_sumᵢ  ~  π · NB(μ = expectedᵢ · FC₁, φ₁)  +  (1−π) · NB(μ = expectedᵢ, φ₀)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4140F"/>
                </a:solidFill>
                <a:latin typeface="Consolas"/>
              </a:rPr>
              <a:t>P_countᵢ = Pr( protein i is the “true interactor” component  |  bait_sumᵢ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605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534C"/>
                </a:solidFill>
                <a:latin typeface="Calibri"/>
              </a:rPr>
              <a:t>π, FC₁, φ₀, φ₁ are fit jointly across all proteins by EM — a “background” component (FC fixed at 1) and a “true-interactor” component (FC₁ &gt; 1, shared, EM-estimated), each with its own dispersion.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463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D5C8A"/>
                </a:solidFill>
                <a:latin typeface="Calibri"/>
              </a:rPr>
              <a:t>Fusion — naive-Bayes posterior combination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1208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4140F"/>
                </a:solidFill>
                <a:latin typeface="Consolas"/>
              </a:rPr>
              <a:t>odds(p) = p / (1−p)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4140F"/>
                </a:solidFill>
                <a:latin typeface="Consolas"/>
              </a:rPr>
              <a:t>fused_odds = odds(P_count) × odds(P_intensity)          Fused_Score = fused_odds / (1 + fused_odds)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534C"/>
                </a:solidFill>
                <a:latin typeface="Calibri"/>
              </a:rPr>
              <a:t>Multiplying odds is the naive-Bayes combination rule: valid evidence-pooling if the two branches are independent given true-interactor status — reasonable here, since count and MaxLFQ intensity are different measurements of the same peptides.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